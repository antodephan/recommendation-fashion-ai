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08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18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6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4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3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2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68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C00000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8080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marL="457246" indent="0" algn="ctr">
              <a:buNone/>
              <a:defRPr sz="2000"/>
            </a:lvl2pPr>
            <a:lvl3pPr marL="914492" indent="0" algn="ctr">
              <a:buNone/>
              <a:defRPr sz="1800"/>
            </a:lvl3pPr>
            <a:lvl4pPr marL="1371738" indent="0" algn="ctr">
              <a:buNone/>
              <a:defRPr sz="1600"/>
            </a:lvl4pPr>
            <a:lvl5pPr marL="1828983" indent="0" algn="ctr">
              <a:buNone/>
              <a:defRPr sz="1600"/>
            </a:lvl5pPr>
            <a:lvl6pPr marL="2286228" indent="0" algn="ctr">
              <a:buNone/>
              <a:defRPr sz="1600"/>
            </a:lvl6pPr>
            <a:lvl7pPr marL="2743475" indent="0" algn="ctr">
              <a:buNone/>
              <a:defRPr sz="1600"/>
            </a:lvl7pPr>
            <a:lvl8pPr marL="3200720" indent="0" algn="ctr">
              <a:buNone/>
              <a:defRPr sz="1600"/>
            </a:lvl8pPr>
            <a:lvl9pPr marL="3657966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90027-6C2B-4851-9FA0-C08D49EB412F}" type="datetimeFigureOut">
              <a:rPr lang="vi-VN" smtClean="0"/>
              <a:t>07/06/2026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09722-4732-439C-B1CE-A7E7A82FF8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0803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5848B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FontTx/>
              <a:buNone/>
              <a:defRPr/>
            </a:lvl1pPr>
            <a:lvl2pPr marL="457245" indent="0" algn="just">
              <a:buFontTx/>
              <a:buNone/>
              <a:defRPr/>
            </a:lvl2pPr>
            <a:lvl3pPr marL="914491" indent="0" algn="just">
              <a:buFontTx/>
              <a:buNone/>
              <a:defRPr/>
            </a:lvl3pPr>
            <a:lvl4pPr marL="1371737" indent="0" algn="just">
              <a:buFontTx/>
              <a:buNone/>
              <a:defRPr/>
            </a:lvl4pPr>
            <a:lvl5pPr marL="1828983" indent="0" algn="just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CF90027-6C2B-4851-9FA0-C08D49EB412F}" type="datetimeFigureOut">
              <a:rPr lang="vi-VN" smtClean="0"/>
              <a:t>07/06/2026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09722-4732-439C-B1CE-A7E7A82FF8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81296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4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9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73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9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22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47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7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9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90027-6C2B-4851-9FA0-C08D49EB412F}" type="datetimeFigureOut">
              <a:rPr lang="vi-VN" smtClean="0"/>
              <a:t>07/06/2026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09722-4732-439C-B1CE-A7E7A82FF8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14544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8080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95130"/>
            <a:ext cx="5181600" cy="40818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95129"/>
            <a:ext cx="5181600" cy="40818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90027-6C2B-4851-9FA0-C08D49EB412F}" type="datetimeFigureOut">
              <a:rPr lang="vi-VN" smtClean="0"/>
              <a:t>07/06/2026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09722-4732-439C-B1CE-A7E7A82FF8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2134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1857375"/>
            <a:ext cx="5157787" cy="6477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46" indent="0">
              <a:buNone/>
              <a:defRPr sz="2000" b="1"/>
            </a:lvl2pPr>
            <a:lvl3pPr marL="914492" indent="0">
              <a:buNone/>
              <a:defRPr sz="1800" b="1"/>
            </a:lvl3pPr>
            <a:lvl4pPr marL="1371738" indent="0">
              <a:buNone/>
              <a:defRPr sz="1600" b="1"/>
            </a:lvl4pPr>
            <a:lvl5pPr marL="1828983" indent="0">
              <a:buNone/>
              <a:defRPr sz="1600" b="1"/>
            </a:lvl5pPr>
            <a:lvl6pPr marL="2286228" indent="0">
              <a:buNone/>
              <a:defRPr sz="1600" b="1"/>
            </a:lvl6pPr>
            <a:lvl7pPr marL="2743475" indent="0">
              <a:buNone/>
              <a:defRPr sz="1600" b="1"/>
            </a:lvl7pPr>
            <a:lvl8pPr marL="3200720" indent="0">
              <a:buNone/>
              <a:defRPr sz="1600" b="1"/>
            </a:lvl8pPr>
            <a:lvl9pPr marL="3657966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857375"/>
            <a:ext cx="5183188" cy="6477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46" indent="0">
              <a:buNone/>
              <a:defRPr sz="2000" b="1"/>
            </a:lvl2pPr>
            <a:lvl3pPr marL="914492" indent="0">
              <a:buNone/>
              <a:defRPr sz="1800" b="1"/>
            </a:lvl3pPr>
            <a:lvl4pPr marL="1371738" indent="0">
              <a:buNone/>
              <a:defRPr sz="1600" b="1"/>
            </a:lvl4pPr>
            <a:lvl5pPr marL="1828983" indent="0">
              <a:buNone/>
              <a:defRPr sz="1600" b="1"/>
            </a:lvl5pPr>
            <a:lvl6pPr marL="2286228" indent="0">
              <a:buNone/>
              <a:defRPr sz="1600" b="1"/>
            </a:lvl6pPr>
            <a:lvl7pPr marL="2743475" indent="0">
              <a:buNone/>
              <a:defRPr sz="1600" b="1"/>
            </a:lvl7pPr>
            <a:lvl8pPr marL="3200720" indent="0">
              <a:buNone/>
              <a:defRPr sz="1600" b="1"/>
            </a:lvl8pPr>
            <a:lvl9pPr marL="3657966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90027-6C2B-4851-9FA0-C08D49EB412F}" type="datetimeFigureOut">
              <a:rPr lang="vi-VN" smtClean="0"/>
              <a:t>07/06/2026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09722-4732-439C-B1CE-A7E7A82FF8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38806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90027-6C2B-4851-9FA0-C08D49EB412F}" type="datetimeFigureOut">
              <a:rPr lang="vi-VN" smtClean="0"/>
              <a:t>07/06/2026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09722-4732-439C-B1CE-A7E7A82FF8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26927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90027-6C2B-4851-9FA0-C08D49EB412F}" type="datetimeFigureOut">
              <a:rPr lang="vi-VN" smtClean="0"/>
              <a:t>07/06/2026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09722-4732-439C-B1CE-A7E7A82FF8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6847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987428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46" indent="0">
              <a:buNone/>
              <a:defRPr sz="1400"/>
            </a:lvl2pPr>
            <a:lvl3pPr marL="914492" indent="0">
              <a:buNone/>
              <a:defRPr sz="1200"/>
            </a:lvl3pPr>
            <a:lvl4pPr marL="1371738" indent="0">
              <a:buNone/>
              <a:defRPr sz="1000"/>
            </a:lvl4pPr>
            <a:lvl5pPr marL="1828983" indent="0">
              <a:buNone/>
              <a:defRPr sz="1000"/>
            </a:lvl5pPr>
            <a:lvl6pPr marL="2286228" indent="0">
              <a:buNone/>
              <a:defRPr sz="1000"/>
            </a:lvl6pPr>
            <a:lvl7pPr marL="2743475" indent="0">
              <a:buNone/>
              <a:defRPr sz="1000"/>
            </a:lvl7pPr>
            <a:lvl8pPr marL="3200720" indent="0">
              <a:buNone/>
              <a:defRPr sz="1000"/>
            </a:lvl8pPr>
            <a:lvl9pPr marL="3657966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90027-6C2B-4851-9FA0-C08D49EB412F}" type="datetimeFigureOut">
              <a:rPr lang="vi-VN" smtClean="0"/>
              <a:t>07/06/2026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09722-4732-439C-B1CE-A7E7A82FF8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93644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46" indent="0">
              <a:buNone/>
              <a:defRPr sz="2800"/>
            </a:lvl2pPr>
            <a:lvl3pPr marL="914492" indent="0">
              <a:buNone/>
              <a:defRPr sz="2400"/>
            </a:lvl3pPr>
            <a:lvl4pPr marL="1371738" indent="0">
              <a:buNone/>
              <a:defRPr sz="2000"/>
            </a:lvl4pPr>
            <a:lvl5pPr marL="1828983" indent="0">
              <a:buNone/>
              <a:defRPr sz="2000"/>
            </a:lvl5pPr>
            <a:lvl6pPr marL="2286228" indent="0">
              <a:buNone/>
              <a:defRPr sz="2000"/>
            </a:lvl6pPr>
            <a:lvl7pPr marL="2743475" indent="0">
              <a:buNone/>
              <a:defRPr sz="2000"/>
            </a:lvl7pPr>
            <a:lvl8pPr marL="3200720" indent="0">
              <a:buNone/>
              <a:defRPr sz="2000"/>
            </a:lvl8pPr>
            <a:lvl9pPr marL="3657966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46" indent="0">
              <a:buNone/>
              <a:defRPr sz="1400"/>
            </a:lvl2pPr>
            <a:lvl3pPr marL="914492" indent="0">
              <a:buNone/>
              <a:defRPr sz="1200"/>
            </a:lvl3pPr>
            <a:lvl4pPr marL="1371738" indent="0">
              <a:buNone/>
              <a:defRPr sz="1000"/>
            </a:lvl4pPr>
            <a:lvl5pPr marL="1828983" indent="0">
              <a:buNone/>
              <a:defRPr sz="1000"/>
            </a:lvl5pPr>
            <a:lvl6pPr marL="2286228" indent="0">
              <a:buNone/>
              <a:defRPr sz="1000"/>
            </a:lvl6pPr>
            <a:lvl7pPr marL="2743475" indent="0">
              <a:buNone/>
              <a:defRPr sz="1000"/>
            </a:lvl7pPr>
            <a:lvl8pPr marL="3200720" indent="0">
              <a:buNone/>
              <a:defRPr sz="1000"/>
            </a:lvl8pPr>
            <a:lvl9pPr marL="3657966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90027-6C2B-4851-9FA0-C08D49EB412F}" type="datetimeFigureOut">
              <a:rPr lang="vi-VN" smtClean="0"/>
              <a:t>07/06/2026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09722-4732-439C-B1CE-A7E7A82FF8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4503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90027-6C2B-4851-9FA0-C08D49EB412F}" type="datetimeFigureOut">
              <a:rPr lang="vi-VN" smtClean="0"/>
              <a:t>07/06/2026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09722-4732-439C-B1CE-A7E7A82FF8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93769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90027-6C2B-4851-9FA0-C08D49EB412F}" type="datetimeFigureOut">
              <a:rPr lang="vi-VN" smtClean="0"/>
              <a:t>07/06/2026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09722-4732-439C-B1CE-A7E7A82FF8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8453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228232"/>
            <a:ext cx="10515600" cy="767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75030"/>
            <a:ext cx="10515600" cy="4001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FCF90027-6C2B-4851-9FA0-C08D49EB412F}" type="datetimeFigureOut">
              <a:rPr lang="vi-VN" smtClean="0"/>
              <a:t>07/06/2026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C00000"/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F409722-4732-439C-B1CE-A7E7A82FF8F2}" type="slidenum">
              <a:rPr lang="vi-VN" smtClean="0"/>
              <a:t>‹#›</a:t>
            </a:fld>
            <a:endParaRPr lang="vi-V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F9058A-D643-E990-0257-69C3B7F9EF2C}"/>
              </a:ext>
            </a:extLst>
          </p:cNvPr>
          <p:cNvSpPr txBox="1">
            <a:spLocks/>
          </p:cNvSpPr>
          <p:nvPr/>
        </p:nvSpPr>
        <p:spPr>
          <a:xfrm>
            <a:off x="5344358" y="228539"/>
            <a:ext cx="6847642" cy="689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2400" b="1">
                <a:solidFill>
                  <a:srgbClr val="008080"/>
                </a:solidFill>
              </a:rPr>
              <a:t>TRƯỜNG ĐẠI HỌC GIAO THÔNG VẬN TẢI </a:t>
            </a:r>
            <a:br>
              <a:rPr lang="en-US" sz="2400" b="1">
                <a:solidFill>
                  <a:srgbClr val="008080"/>
                </a:solidFill>
              </a:rPr>
            </a:br>
            <a:r>
              <a:rPr lang="en-US" sz="2400" b="1">
                <a:solidFill>
                  <a:srgbClr val="008080"/>
                </a:solidFill>
              </a:rPr>
              <a:t>THÀNH PHỐ HỒ CHÍ MINH</a:t>
            </a:r>
            <a:endParaRPr lang="en-GB" sz="2400" b="1" dirty="0"/>
          </a:p>
        </p:txBody>
      </p:sp>
      <p:pic>
        <p:nvPicPr>
          <p:cNvPr id="9" name="Picture 8" descr="A colorful text on a black background&#10;&#10;Description automatically generated">
            <a:extLst>
              <a:ext uri="{FF2B5EF4-FFF2-40B4-BE49-F238E27FC236}">
                <a16:creationId xmlns:a16="http://schemas.microsoft.com/office/drawing/2014/main" id="{1F84E451-A81F-AB53-8B68-037D26E3E58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54" y="186586"/>
            <a:ext cx="3931920" cy="7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92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9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5848B"/>
          </a:solidFill>
          <a:latin typeface="Segoe UI Black" panose="020B0A02040204020203" pitchFamily="34" charset="0"/>
          <a:ea typeface="Segoe UI Black" panose="020B0A02040204020203" pitchFamily="34" charset="0"/>
          <a:cs typeface="Times New Roman" panose="02020603050405020304" pitchFamily="18" charset="0"/>
        </a:defRPr>
      </a:lvl1pPr>
    </p:titleStyle>
    <p:bodyStyle>
      <a:lvl1pPr marL="0" indent="0" algn="l" defTabSz="914492" rtl="0" eaLnBrk="1" latinLnBrk="0" hangingPunct="1">
        <a:lnSpc>
          <a:spcPct val="90000"/>
        </a:lnSpc>
        <a:spcBef>
          <a:spcPts val="1000"/>
        </a:spcBef>
        <a:buFontTx/>
        <a:buNone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457245" indent="0" algn="l" defTabSz="914492" rtl="0" eaLnBrk="1" latinLnBrk="0" hangingPunct="1">
        <a:lnSpc>
          <a:spcPct val="90000"/>
        </a:lnSpc>
        <a:spcBef>
          <a:spcPts val="500"/>
        </a:spcBef>
        <a:buFontTx/>
        <a:buNone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914491" indent="0" algn="l" defTabSz="914492" rtl="0" eaLnBrk="1" latinLnBrk="0" hangingPunct="1">
        <a:lnSpc>
          <a:spcPct val="90000"/>
        </a:lnSpc>
        <a:spcBef>
          <a:spcPts val="500"/>
        </a:spcBef>
        <a:buFontTx/>
        <a:buNone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371737" indent="0" algn="l" defTabSz="914492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828983" indent="0" algn="l" defTabSz="914492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852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98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343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588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46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92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38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83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28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75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720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66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9D8C5FB8-8D39-F286-5B22-50CDFFFAD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07267"/>
            <a:ext cx="9144000" cy="2387600"/>
          </a:xfrm>
        </p:spPr>
        <p:txBody>
          <a:bodyPr/>
          <a:lstStyle/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gợi</a:t>
            </a:r>
            <a:r>
              <a:rPr lang="en-US" dirty="0"/>
              <a:t> ý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tuệ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930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C82B7-E1F9-9248-3E81-A3DB2D648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TÓM TẮT ĐỒ 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70197-79AE-5AEF-4389-ABE12FC65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Couture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AI — nền tảng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web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gợi ý thời trang: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chat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AI, gợi ý cá nhân hóa theo phong cách, mùa, xu hướng.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Kiến trúc: Next.js 14 +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FastAPI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+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PostgreSQL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16 +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Redis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7 +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Qdrant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1.12 +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Nginx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Docker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Compose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AI: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OpenAI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(GPT-5.1-mini,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embeddings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Vision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+ RAG +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Hybrid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Recommendation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Engine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Dữ liệu thực tế: 821 sản phẩm H&amp;M, 721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vector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outfit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115 KB thời trang, 10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style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trends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Tính năng: SSE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chat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streaming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JWT + RBAC,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rate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limit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Redis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đa ngôn ngữ Việt/Anh.</a:t>
            </a:r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534929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27B9530-E0AE-C4B0-FB65-1E8B51D3B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40118"/>
            <a:ext cx="9144000" cy="2387600"/>
          </a:xfrm>
        </p:spPr>
        <p:txBody>
          <a:bodyPr/>
          <a:lstStyle/>
          <a:p>
            <a:r>
              <a:rPr lang="vi-VN" dirty="0"/>
              <a:t>CHƯƠNG 1</a:t>
            </a:r>
            <a:br>
              <a:rPr lang="vi-VN" dirty="0"/>
            </a:br>
            <a:r>
              <a:rPr lang="vi-VN" dirty="0"/>
              <a:t>GIỚI THIỆU ĐỀ TÀI</a:t>
            </a:r>
          </a:p>
        </p:txBody>
      </p:sp>
    </p:spTree>
    <p:extLst>
      <p:ext uri="{BB962C8B-B14F-4D97-AF65-F5344CB8AC3E}">
        <p14:creationId xmlns:p14="http://schemas.microsoft.com/office/powerpoint/2010/main" val="1343582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1DAA5-72B1-C47B-5986-D240A9299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1. Lý do, mục tiêu và phạm vi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631A5-8553-1B8D-F49D-AD066F317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Lý do: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paradox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choice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trong e-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commerce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; nhu cầu tư vấn bằng ngôn ngữ tự nhiên; LLM + RAG +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hybrid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RS.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Mục tiêu: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web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full-stack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tích hợp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chat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AI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streaming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RAG,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hybrid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gợi ý,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vision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trends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Docker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Phạm vi: Next.js +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FastAPI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+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PostgreSQL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+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Qdrant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+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Redis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;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catalog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H&amp;M;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admin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insights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Ngoài phạm vi: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mobile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native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thanh toán,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fine-tune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LLM quy mô lớn,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virtual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try-on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AR.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Đối tượng: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End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User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Admin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Superadmin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; dữ liệu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catalog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/KB/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trends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; thuật toán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embedding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RAG,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ranking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736336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448112-2D0A-4DF0-347E-80AB3C2344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22131"/>
            <a:ext cx="9144000" cy="2387600"/>
          </a:xfrm>
        </p:spPr>
        <p:txBody>
          <a:bodyPr/>
          <a:lstStyle/>
          <a:p>
            <a:r>
              <a:rPr lang="vi-VN" dirty="0"/>
              <a:t>CHƯƠNG 2</a:t>
            </a:r>
            <a:br>
              <a:rPr lang="vi-VN" dirty="0"/>
            </a:br>
            <a:r>
              <a:rPr lang="vi-VN" dirty="0"/>
              <a:t>CƠ SỞ LÝ THUYẾT</a:t>
            </a:r>
          </a:p>
        </p:txBody>
      </p:sp>
    </p:spTree>
    <p:extLst>
      <p:ext uri="{BB962C8B-B14F-4D97-AF65-F5344CB8AC3E}">
        <p14:creationId xmlns:p14="http://schemas.microsoft.com/office/powerpoint/2010/main" val="445615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64359-5D20-A9A8-F096-25AD6637E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Nền tảng công nghệ &amp; thuật toán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F4180-57CB-720D-F513-8C7F73975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AI/ML/DL: học từ dữ liệu;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embedding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(text-embedding-3-small) cho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semantic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search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Recommendation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Content-based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(SQL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filter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+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Collaborative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peer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favorites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+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Vector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Qdrant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ANN).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RAG: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embed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query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→ truy xuất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fashion_kb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+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chat_memory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→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inject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context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≤4000 ký tự → LLM sinh câu trả lời.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Hạ tầng: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FastAPI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async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Redis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cache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rate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limit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JWT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refresh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rotation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SSE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streaming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chat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Vector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DB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Qdrant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5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collections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outfits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fashion_kb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chat_memory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user_profiles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vi-V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style_trends</a:t>
            </a:r>
            <a:r>
              <a:rPr kumimoji="0" lang="vi-VN" sz="17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).</a:t>
            </a:r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577791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6AED2-7BED-E9F7-7CD4-01B2EB250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9463FB-B92C-C6FA-F6ED-F16D3979E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22131"/>
            <a:ext cx="9144000" cy="2387600"/>
          </a:xfrm>
        </p:spPr>
        <p:txBody>
          <a:bodyPr/>
          <a:lstStyle/>
          <a:p>
            <a:r>
              <a:rPr lang="vi-VN" dirty="0"/>
              <a:t>CHƯƠNG 3</a:t>
            </a:r>
            <a:br>
              <a:rPr lang="vi-VN" dirty="0"/>
            </a:br>
            <a:r>
              <a:rPr lang="vi-VN" dirty="0"/>
              <a:t>PHÂN TÍCH VÀ THIẾT KẾ HỆ THỐNG</a:t>
            </a:r>
          </a:p>
        </p:txBody>
      </p:sp>
    </p:spTree>
    <p:extLst>
      <p:ext uri="{BB962C8B-B14F-4D97-AF65-F5344CB8AC3E}">
        <p14:creationId xmlns:p14="http://schemas.microsoft.com/office/powerpoint/2010/main" val="3035090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A201-7C8D-C82A-CB54-17F3139C4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987428"/>
            <a:ext cx="3932237" cy="1069975"/>
          </a:xfrm>
        </p:spPr>
        <p:txBody>
          <a:bodyPr anchor="b">
            <a:normAutofit/>
          </a:bodyPr>
          <a:lstStyle/>
          <a:p>
            <a:r>
              <a:rPr lang="en-US" sz="3000"/>
              <a:t>3.1 Use Case &amp; </a:t>
            </a:r>
            <a:r>
              <a:rPr lang="en-US" sz="3000" err="1"/>
              <a:t>kiến</a:t>
            </a:r>
            <a:r>
              <a:rPr lang="en-US" sz="3000"/>
              <a:t> </a:t>
            </a:r>
            <a:r>
              <a:rPr lang="en-US" sz="3000" err="1"/>
              <a:t>trúc</a:t>
            </a:r>
            <a:r>
              <a:rPr lang="en-US" sz="3000"/>
              <a:t> </a:t>
            </a:r>
            <a:r>
              <a:rPr lang="en-US" sz="3000" err="1"/>
              <a:t>triển</a:t>
            </a:r>
            <a:r>
              <a:rPr lang="en-US" sz="3000"/>
              <a:t> </a:t>
            </a:r>
            <a:r>
              <a:rPr lang="en-US" sz="3000" err="1"/>
              <a:t>khai</a:t>
            </a:r>
            <a:endParaRPr lang="vi-VN" sz="30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A6A85-377A-DD7E-6B89-E35CD5E02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>
            <a:normAutofit/>
          </a:bodyPr>
          <a:lstStyle/>
          <a:p>
            <a:pPr marL="285750" lvl="0" indent="-285750" defTabSz="4572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vi-VN" err="1"/>
              <a:t>Actors</a:t>
            </a:r>
            <a:r>
              <a:rPr lang="vi-VN"/>
              <a:t>: </a:t>
            </a:r>
            <a:r>
              <a:rPr lang="vi-VN" err="1"/>
              <a:t>Guest</a:t>
            </a:r>
            <a:r>
              <a:rPr lang="vi-VN"/>
              <a:t>, </a:t>
            </a:r>
            <a:r>
              <a:rPr lang="vi-VN" err="1"/>
              <a:t>End</a:t>
            </a:r>
            <a:r>
              <a:rPr lang="vi-VN"/>
              <a:t> </a:t>
            </a:r>
            <a:r>
              <a:rPr lang="vi-VN" err="1"/>
              <a:t>User</a:t>
            </a:r>
            <a:r>
              <a:rPr lang="vi-VN"/>
              <a:t>, </a:t>
            </a:r>
            <a:r>
              <a:rPr lang="vi-VN" err="1"/>
              <a:t>Admin</a:t>
            </a:r>
            <a:r>
              <a:rPr lang="vi-VN"/>
              <a:t>, </a:t>
            </a:r>
            <a:r>
              <a:rPr lang="vi-VN" err="1"/>
              <a:t>Superadmin</a:t>
            </a:r>
            <a:r>
              <a:rPr lang="vi-VN"/>
              <a:t>.</a:t>
            </a:r>
          </a:p>
          <a:p>
            <a:pPr marL="285750" lvl="0" indent="-285750" defTabSz="4572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vi-VN" err="1"/>
              <a:t>Use</a:t>
            </a:r>
            <a:r>
              <a:rPr lang="vi-VN"/>
              <a:t> </a:t>
            </a:r>
            <a:r>
              <a:rPr lang="vi-VN" err="1"/>
              <a:t>cases</a:t>
            </a:r>
            <a:r>
              <a:rPr lang="vi-VN"/>
              <a:t>: đăng ký/đăng nhập, </a:t>
            </a:r>
            <a:r>
              <a:rPr lang="vi-VN" err="1"/>
              <a:t>chat</a:t>
            </a:r>
            <a:r>
              <a:rPr lang="vi-VN"/>
              <a:t> AI, gợi ý </a:t>
            </a:r>
            <a:r>
              <a:rPr lang="vi-VN" err="1"/>
              <a:t>outfit</a:t>
            </a:r>
            <a:r>
              <a:rPr lang="vi-VN"/>
              <a:t>, </a:t>
            </a:r>
            <a:r>
              <a:rPr lang="vi-VN" err="1"/>
              <a:t>trends</a:t>
            </a:r>
            <a:r>
              <a:rPr lang="vi-VN"/>
              <a:t>, </a:t>
            </a:r>
            <a:r>
              <a:rPr lang="vi-VN" err="1"/>
              <a:t>favorites</a:t>
            </a:r>
            <a:r>
              <a:rPr lang="vi-VN"/>
              <a:t>, </a:t>
            </a:r>
            <a:r>
              <a:rPr lang="vi-VN" err="1"/>
              <a:t>admin</a:t>
            </a:r>
            <a:r>
              <a:rPr lang="vi-VN"/>
              <a:t> </a:t>
            </a:r>
            <a:r>
              <a:rPr lang="vi-VN" err="1"/>
              <a:t>insights</a:t>
            </a:r>
            <a:r>
              <a:rPr lang="vi-VN"/>
              <a:t>.</a:t>
            </a:r>
          </a:p>
          <a:p>
            <a:pPr marL="285750" lvl="0" indent="-285750" defTabSz="4572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vi-VN"/>
              <a:t>Triển khai </a:t>
            </a:r>
            <a:r>
              <a:rPr lang="vi-VN" err="1"/>
              <a:t>Docker</a:t>
            </a:r>
            <a:r>
              <a:rPr lang="vi-VN"/>
              <a:t> </a:t>
            </a:r>
            <a:r>
              <a:rPr lang="vi-VN" err="1"/>
              <a:t>Compose</a:t>
            </a:r>
            <a:r>
              <a:rPr lang="vi-VN"/>
              <a:t>: </a:t>
            </a:r>
            <a:r>
              <a:rPr lang="vi-VN" err="1"/>
              <a:t>Nginx</a:t>
            </a:r>
            <a:r>
              <a:rPr lang="vi-VN"/>
              <a:t> → </a:t>
            </a:r>
            <a:r>
              <a:rPr lang="vi-VN" err="1"/>
              <a:t>Frontend</a:t>
            </a:r>
            <a:r>
              <a:rPr lang="vi-VN"/>
              <a:t>/</a:t>
            </a:r>
            <a:r>
              <a:rPr lang="vi-VN" err="1"/>
              <a:t>Backend</a:t>
            </a:r>
            <a:r>
              <a:rPr lang="vi-VN"/>
              <a:t> → </a:t>
            </a:r>
            <a:r>
              <a:rPr lang="vi-VN" err="1"/>
              <a:t>Postgres</a:t>
            </a:r>
            <a:r>
              <a:rPr lang="vi-VN"/>
              <a:t>, </a:t>
            </a:r>
            <a:r>
              <a:rPr lang="vi-VN" err="1"/>
              <a:t>Redis</a:t>
            </a:r>
            <a:r>
              <a:rPr lang="vi-VN"/>
              <a:t>, </a:t>
            </a:r>
            <a:r>
              <a:rPr lang="vi-VN" err="1"/>
              <a:t>Qdrant</a:t>
            </a:r>
            <a:r>
              <a:rPr lang="vi-VN"/>
              <a:t>.</a:t>
            </a:r>
          </a:p>
          <a:p>
            <a:pPr marL="285750" lvl="0" indent="-285750" defTabSz="4572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vi-VN"/>
              <a:t>Non-</a:t>
            </a:r>
            <a:r>
              <a:rPr lang="vi-VN" err="1"/>
              <a:t>functional</a:t>
            </a:r>
            <a:r>
              <a:rPr lang="vi-VN"/>
              <a:t>: bảo mật JWT, </a:t>
            </a:r>
            <a:r>
              <a:rPr lang="vi-VN" err="1"/>
              <a:t>rate</a:t>
            </a:r>
            <a:r>
              <a:rPr lang="vi-VN"/>
              <a:t> </a:t>
            </a:r>
            <a:r>
              <a:rPr lang="vi-VN" err="1"/>
              <a:t>limit</a:t>
            </a:r>
            <a:r>
              <a:rPr lang="vi-VN"/>
              <a:t>, i18n, </a:t>
            </a:r>
            <a:r>
              <a:rPr lang="vi-VN" err="1"/>
              <a:t>responsive</a:t>
            </a:r>
            <a:r>
              <a:rPr lang="vi-VN"/>
              <a:t> UI, </a:t>
            </a:r>
            <a:r>
              <a:rPr lang="vi-VN" err="1"/>
              <a:t>health</a:t>
            </a:r>
            <a:r>
              <a:rPr lang="vi-VN"/>
              <a:t> </a:t>
            </a:r>
            <a:r>
              <a:rPr lang="vi-VN" err="1"/>
              <a:t>checks</a:t>
            </a:r>
            <a:r>
              <a:rPr lang="vi-VN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dirty="0"/>
          </a:p>
          <a:p>
            <a:endParaRPr lang="vi-VN" dirty="0"/>
          </a:p>
        </p:txBody>
      </p:sp>
      <p:pic>
        <p:nvPicPr>
          <p:cNvPr id="13" name="Picture 12" descr="fig_3_1_use_case.png">
            <a:extLst>
              <a:ext uri="{FF2B5EF4-FFF2-40B4-BE49-F238E27FC236}">
                <a16:creationId xmlns:a16="http://schemas.microsoft.com/office/drawing/2014/main" id="{5B2D0EEE-BC27-FF30-A561-976646CA7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300" y="1096487"/>
            <a:ext cx="4267200" cy="2866707"/>
          </a:xfrm>
          <a:prstGeom prst="rect">
            <a:avLst/>
          </a:prstGeom>
        </p:spPr>
      </p:pic>
      <p:pic>
        <p:nvPicPr>
          <p:cNvPr id="14" name="Picture 13" descr="fig_3_6_deployment.png">
            <a:extLst>
              <a:ext uri="{FF2B5EF4-FFF2-40B4-BE49-F238E27FC236}">
                <a16:creationId xmlns:a16="http://schemas.microsoft.com/office/drawing/2014/main" id="{943C9ABD-A8A4-0C90-2356-727152DAF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480" y="3991293"/>
            <a:ext cx="4434840" cy="286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871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DC119-E908-1058-5A7B-9781195D8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47ABB-D459-2BF2-F00E-306B30ADD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987428"/>
            <a:ext cx="4547549" cy="1069975"/>
          </a:xfrm>
        </p:spPr>
        <p:txBody>
          <a:bodyPr anchor="b">
            <a:normAutofit fontScale="90000"/>
          </a:bodyPr>
          <a:lstStyle/>
          <a:p>
            <a:r>
              <a:rPr lang="fr-FR" sz="3000" dirty="0"/>
              <a:t>3.2 RAG Pipeline &amp; </a:t>
            </a:r>
            <a:r>
              <a:rPr lang="fr-FR" sz="3000" dirty="0" err="1"/>
              <a:t>Hybrid</a:t>
            </a:r>
            <a:r>
              <a:rPr lang="fr-FR" sz="3000" dirty="0"/>
              <a:t> </a:t>
            </a:r>
            <a:r>
              <a:rPr lang="fr-FR" sz="3000" dirty="0" err="1"/>
              <a:t>Recommendation</a:t>
            </a:r>
            <a:endParaRPr lang="vi-VN" sz="3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6C2AD7-D045-9FEF-1D0B-CFABB7F09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>
            <a:norm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vi-VN" dirty="0">
                <a:solidFill>
                  <a:srgbClr val="1E293B"/>
                </a:solidFill>
                <a:latin typeface="Arial"/>
              </a:rPr>
              <a:t>RAG: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Query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→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Embed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→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Qdrant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(KB +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memory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) →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format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context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→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system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prompt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→ LLM.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vi-VN" dirty="0" err="1">
                <a:solidFill>
                  <a:srgbClr val="1E293B"/>
                </a:solidFill>
                <a:latin typeface="Arial"/>
              </a:rPr>
              <a:t>Hybrid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Engine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: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vector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+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profile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+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content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SQL +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collaborative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+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vision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candidates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vi-VN" dirty="0" err="1">
                <a:solidFill>
                  <a:srgbClr val="1E293B"/>
                </a:solidFill>
                <a:latin typeface="Arial"/>
              </a:rPr>
              <a:t>Merge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adaptive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weights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→ LLM re-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rank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top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-K kèm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reasoning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&amp;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confidence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vi-VN" dirty="0" err="1">
                <a:solidFill>
                  <a:srgbClr val="1E293B"/>
                </a:solidFill>
                <a:latin typeface="Arial"/>
              </a:rPr>
              <a:t>Activity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flow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: JWT → RAG →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intent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detect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→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recommend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→ SSE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stream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 → </a:t>
            </a:r>
            <a:r>
              <a:rPr lang="vi-VN" dirty="0" err="1">
                <a:solidFill>
                  <a:srgbClr val="1E293B"/>
                </a:solidFill>
                <a:latin typeface="Arial"/>
              </a:rPr>
              <a:t>persist</a:t>
            </a:r>
            <a:r>
              <a:rPr lang="vi-VN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  <p:pic>
        <p:nvPicPr>
          <p:cNvPr id="3" name="Picture 2" descr="fig_3_8_rag.png">
            <a:extLst>
              <a:ext uri="{FF2B5EF4-FFF2-40B4-BE49-F238E27FC236}">
                <a16:creationId xmlns:a16="http://schemas.microsoft.com/office/drawing/2014/main" id="{AA2FC8F4-9040-5B13-A365-4A2B94E1D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3" y="1180362"/>
            <a:ext cx="3678031" cy="5072954"/>
          </a:xfrm>
          <a:prstGeom prst="rect">
            <a:avLst/>
          </a:prstGeom>
        </p:spPr>
      </p:pic>
      <p:pic>
        <p:nvPicPr>
          <p:cNvPr id="5" name="Picture 4" descr="fig_3_7_recommendation.png">
            <a:extLst>
              <a:ext uri="{FF2B5EF4-FFF2-40B4-BE49-F238E27FC236}">
                <a16:creationId xmlns:a16="http://schemas.microsoft.com/office/drawing/2014/main" id="{958DB29E-E782-C8B1-54B8-9DC41AD53A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699"/>
          <a:stretch>
            <a:fillRect/>
          </a:stretch>
        </p:blipFill>
        <p:spPr>
          <a:xfrm>
            <a:off x="8908026" y="1263446"/>
            <a:ext cx="3283974" cy="44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143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4FD85-58E2-A598-0AC6-16244BF7A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79AAB2-C963-0DD5-A829-F917AA1CD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22131"/>
            <a:ext cx="9144000" cy="2387600"/>
          </a:xfrm>
        </p:spPr>
        <p:txBody>
          <a:bodyPr/>
          <a:lstStyle/>
          <a:p>
            <a:r>
              <a:rPr lang="vi-VN" dirty="0"/>
              <a:t>CHƯƠNG 4</a:t>
            </a:r>
            <a:br>
              <a:rPr lang="vi-VN" dirty="0"/>
            </a:br>
            <a:r>
              <a:rPr lang="vi-VN" dirty="0"/>
              <a:t>XÂY DỰNG HỆ THỐNG</a:t>
            </a:r>
          </a:p>
        </p:txBody>
      </p:sp>
    </p:spTree>
    <p:extLst>
      <p:ext uri="{BB962C8B-B14F-4D97-AF65-F5344CB8AC3E}">
        <p14:creationId xmlns:p14="http://schemas.microsoft.com/office/powerpoint/2010/main" val="4286249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032E9-59DB-1699-BBC5-B3A04946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995AE-2E14-1DAE-1FCE-0DB43A8D1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Triển khai </a:t>
            </a:r>
            <a:r>
              <a:rPr lang="vi-VN" dirty="0" err="1"/>
              <a:t>backend</a:t>
            </a:r>
            <a:r>
              <a:rPr lang="vi-VN" dirty="0"/>
              <a:t> &amp; </a:t>
            </a:r>
            <a:r>
              <a:rPr lang="vi-VN" dirty="0" err="1"/>
              <a:t>module</a:t>
            </a:r>
            <a:r>
              <a:rPr lang="vi-VN" dirty="0"/>
              <a:t> chính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9536E-14CD-8F62-3B20-12DEA6776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700" dirty="0">
                <a:solidFill>
                  <a:srgbClr val="1E293B"/>
                </a:solidFill>
                <a:latin typeface="Arial"/>
              </a:rPr>
              <a:t>Cấu trúc: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backend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/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app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(API,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services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repos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) +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ai_engine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(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llm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rag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recommender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vision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700" dirty="0" err="1">
                <a:solidFill>
                  <a:srgbClr val="1E293B"/>
                </a:solidFill>
                <a:latin typeface="Arial"/>
              </a:rPr>
              <a:t>Database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: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SQLAlchemy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ORM +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Alembic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migrations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; bảng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outfits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users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conversations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favorites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700" dirty="0" err="1">
                <a:solidFill>
                  <a:srgbClr val="1E293B"/>
                </a:solidFill>
                <a:latin typeface="Arial"/>
              </a:rPr>
              <a:t>Auth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: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bcrypt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hash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JWT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access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(30 phút) +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refresh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rotation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(14 ngày), RBAC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admin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/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superadmin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700" dirty="0" err="1">
                <a:solidFill>
                  <a:srgbClr val="1E293B"/>
                </a:solidFill>
                <a:latin typeface="Arial"/>
              </a:rPr>
              <a:t>ChatService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: RAG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context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→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stream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SSE (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token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done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recommendations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) → lưu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Postgres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+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Qdrant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700" dirty="0" err="1">
                <a:solidFill>
                  <a:srgbClr val="1E293B"/>
                </a:solidFill>
                <a:latin typeface="Arial"/>
              </a:rPr>
              <a:t>Redis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: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cache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H&amp;M API 24h,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rate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limit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100/min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global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&amp; 30/min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chat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circuit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breaker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429.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700" dirty="0" err="1">
                <a:solidFill>
                  <a:srgbClr val="1E293B"/>
                </a:solidFill>
                <a:latin typeface="Arial"/>
              </a:rPr>
              <a:t>Docker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: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postgres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redis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qdrant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backend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(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alembic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+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uvicorn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),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frontend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nginx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3761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68611-BE08-9303-DDEF-EB378B8A1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701AE5-A9CD-C0AA-4D70-6882346EB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22131"/>
            <a:ext cx="9144000" cy="2387600"/>
          </a:xfrm>
        </p:spPr>
        <p:txBody>
          <a:bodyPr/>
          <a:lstStyle/>
          <a:p>
            <a:r>
              <a:rPr lang="vi-VN" dirty="0"/>
              <a:t>CHƯƠNG 6 &amp; 7</a:t>
            </a:r>
            <a:br>
              <a:rPr lang="vi-VN" dirty="0"/>
            </a:br>
            <a:r>
              <a:rPr lang="vi-VN" dirty="0"/>
              <a:t>TRIỂN KHAI — KẾT LUẬN</a:t>
            </a:r>
          </a:p>
        </p:txBody>
      </p:sp>
    </p:spTree>
    <p:extLst>
      <p:ext uri="{BB962C8B-B14F-4D97-AF65-F5344CB8AC3E}">
        <p14:creationId xmlns:p14="http://schemas.microsoft.com/office/powerpoint/2010/main" val="2945388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9A561-DBEB-3404-B2AE-FB44777E2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3429C-60CF-2EC1-E80E-B8AB5CF54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6–7. Đánh giá, kết quả và hướng phát triển</a:t>
            </a:r>
            <a:r>
              <a:rPr lang="en-US" dirty="0"/>
              <a:t>.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178C-13B6-5814-BCCD-5BB5E7875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700" dirty="0">
                <a:solidFill>
                  <a:srgbClr val="1E293B"/>
                </a:solidFill>
                <a:latin typeface="Arial"/>
              </a:rPr>
              <a:t>Triển khai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Docker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local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ổn định;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health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checks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Postgres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/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Redis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/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Backend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/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Qdrant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;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Swagger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API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test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700" dirty="0">
                <a:solidFill>
                  <a:srgbClr val="1E293B"/>
                </a:solidFill>
                <a:latin typeface="Arial"/>
              </a:rPr>
              <a:t>Đã hoàn thành: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full-stack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JWT, SSE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chat+RAG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hybrid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recommend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vision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trends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i18n,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security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700" dirty="0">
                <a:solidFill>
                  <a:srgbClr val="1E293B"/>
                </a:solidFill>
                <a:latin typeface="Arial"/>
              </a:rPr>
              <a:t>Hạn chế: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catalog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721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items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;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RapidAPI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quota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; chi phí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OpenAI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; CF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data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sparsity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; chưa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load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test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quy mô lớn.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700" dirty="0">
                <a:solidFill>
                  <a:srgbClr val="1E293B"/>
                </a:solidFill>
                <a:latin typeface="Arial"/>
              </a:rPr>
              <a:t>Hướng phát triển: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multi-brand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catalog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fine-tune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embedding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mobile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app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A/B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testing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, K8s + CI/CD.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700" dirty="0">
                <a:solidFill>
                  <a:srgbClr val="1E293B"/>
                </a:solidFill>
                <a:latin typeface="Arial"/>
              </a:rPr>
              <a:t>Kết luận: hệ thống khả thi cao,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demo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end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-to-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end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đầy đủ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flow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chat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→ gợi ý →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trends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 → </a:t>
            </a:r>
            <a:r>
              <a:rPr lang="vi-VN" sz="1700" dirty="0" err="1">
                <a:solidFill>
                  <a:srgbClr val="1E293B"/>
                </a:solidFill>
                <a:latin typeface="Arial"/>
              </a:rPr>
              <a:t>favorites</a:t>
            </a:r>
            <a:r>
              <a:rPr lang="vi-VN" sz="1700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9476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D5658-2C9B-FCC0-CF52-E2604CDF2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1694EF-4682-DC13-4949-A2182D4CA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22131"/>
            <a:ext cx="9144000" cy="2387600"/>
          </a:xfrm>
        </p:spPr>
        <p:txBody>
          <a:bodyPr/>
          <a:lstStyle/>
          <a:p>
            <a:r>
              <a:rPr lang="en-US" dirty="0"/>
              <a:t>DEMO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071138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E63D7E-535B-480E-2F80-10D2B1CB8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CHÂN THÀNH CẢM ƠN CÁC THẦY VÀ CÁC BẠN ĐÃ LẮNG NGHE 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58983345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UT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UTH" id="{B94FABCE-4AF6-4082-B4EF-8F3D87383BF2}" vid="{7191E2E8-CE55-4781-B785-E51F1B6B7B8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ThemeUTH</Template>
  <TotalTime>30</TotalTime>
  <Words>849</Words>
  <Application>Microsoft Office PowerPoint</Application>
  <PresentationFormat>Widescreen</PresentationFormat>
  <Paragraphs>49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Segoe UI Black</vt:lpstr>
      <vt:lpstr>Times New Roman</vt:lpstr>
      <vt:lpstr>ThemeUTH</vt:lpstr>
      <vt:lpstr>Hệ thống gợi ý thời trang sử dụng trí tuệ nhân tạo</vt:lpstr>
      <vt:lpstr>TÓM TẮT ĐỒ ÁN</vt:lpstr>
      <vt:lpstr>CHƯƠNG 1 GIỚI THIỆU ĐỀ TÀI</vt:lpstr>
      <vt:lpstr>1. Lý do, mục tiêu và phạm vi</vt:lpstr>
      <vt:lpstr>CHƯƠNG 2 CƠ SỞ LÝ THUYẾT</vt:lpstr>
      <vt:lpstr>2. Nền tảng công nghệ &amp; thuật toán</vt:lpstr>
      <vt:lpstr>CHƯƠNG 3 PHÂN TÍCH VÀ THIẾT KẾ HỆ THỐNG</vt:lpstr>
      <vt:lpstr>3.1 Use Case &amp; kiến trúc triển khai</vt:lpstr>
      <vt:lpstr>3.2 RAG Pipeline &amp; Hybrid Recommendation</vt:lpstr>
      <vt:lpstr>CHƯƠNG 4 XÂY DỰNG HỆ THỐNG</vt:lpstr>
      <vt:lpstr>4. Triển khai backend &amp; module chính</vt:lpstr>
      <vt:lpstr>CHƯƠNG 6 &amp; 7 TRIỂN KHAI — KẾT LUẬN</vt:lpstr>
      <vt:lpstr>6–7. Đánh giá, kết quả và hướng phát triển.</vt:lpstr>
      <vt:lpstr>DEMO ứng dụng </vt:lpstr>
      <vt:lpstr>CHÂN THÀNH CẢM ƠN CÁC THẦY VÀ CÁC BẠN ĐÃ LẮNG NGHE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Phan Thành An-CN22H</dc:creator>
  <cp:lastModifiedBy>Phan Thành An-CN22H</cp:lastModifiedBy>
  <cp:revision>2</cp:revision>
  <dcterms:created xsi:type="dcterms:W3CDTF">2026-06-07T10:41:23Z</dcterms:created>
  <dcterms:modified xsi:type="dcterms:W3CDTF">2026-06-07T11:16:14Z</dcterms:modified>
</cp:coreProperties>
</file>